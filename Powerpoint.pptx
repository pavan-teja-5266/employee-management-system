
<file path=[Content_Types].xml><?xml version="1.0" encoding="utf-8"?>
<Types xmlns="http://schemas.openxmlformats.org/package/2006/content-types">
  <Default Extension="jpg" ContentType="image/jp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75" d="100"/>
          <a:sy n="75" d="100"/>
        </p:scale>
        <p:origin x="1478" y="-2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67ABA-CDA3-4E84-9D4A-383721D4C6C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7C9EB-9789-4423-A185-F9F4D25CE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56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7C9EB-9789-4423-A185-F9F4D25CE96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376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91077" y="6220922"/>
            <a:ext cx="2472138" cy="4079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425" y="1230849"/>
            <a:ext cx="5257289" cy="7038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850" y="2181821"/>
            <a:ext cx="9060180" cy="2038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3.png"/><Relationship Id="rId4" Type="http://schemas.openxmlformats.org/officeDocument/2006/relationships/hyperlink" Target="https://www.linkedin.com/in/pavan-teja-vinukollu-a2452a272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3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3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3.pn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3.pn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3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3.pn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4.jpg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3.pn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5" Type="http://schemas.openxmlformats.org/officeDocument/2006/relationships/image" Target="../media/image3.png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187195"/>
            <a:ext cx="10058400" cy="55290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629884" y="4138714"/>
            <a:ext cx="479806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0000"/>
                </a:solidFill>
              </a:rPr>
              <a:t>Employee</a:t>
            </a:r>
            <a:r>
              <a:rPr sz="2800" spc="-5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Management</a:t>
            </a:r>
            <a:r>
              <a:rPr sz="2800" spc="-45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System</a:t>
            </a:r>
            <a:endParaRPr sz="2800"/>
          </a:p>
        </p:txBody>
      </p:sp>
      <p:pic>
        <p:nvPicPr>
          <p:cNvPr id="159" name="Audio 158">
            <a:hlinkClick r:id="" action="ppaction://media"/>
            <a:extLst>
              <a:ext uri="{FF2B5EF4-FFF2-40B4-BE49-F238E27FC236}">
                <a16:creationId xmlns:a16="http://schemas.microsoft.com/office/drawing/2014/main" id="{960236C5-D1FD-5531-CFED-F102102011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621"/>
    </mc:Choice>
    <mc:Fallback>
      <p:transition spd="slow" advTm="216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425" y="1683511"/>
            <a:ext cx="154241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About</a:t>
            </a:r>
            <a:r>
              <a:rPr spc="-110" dirty="0"/>
              <a:t> </a:t>
            </a:r>
            <a:r>
              <a:rPr spc="-25" dirty="0"/>
              <a:t>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480" y="2724383"/>
            <a:ext cx="3108325" cy="13086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105"/>
              </a:spcBef>
              <a:buSzPct val="118181"/>
              <a:buFont typeface="Arial"/>
              <a:buChar char="•"/>
              <a:tabLst>
                <a:tab pos="247015" algn="l"/>
              </a:tabLst>
            </a:pPr>
            <a:r>
              <a:rPr sz="1650" b="1" dirty="0">
                <a:latin typeface="Times New Roman"/>
                <a:cs typeface="Times New Roman"/>
              </a:rPr>
              <a:t>NAME</a:t>
            </a:r>
            <a:r>
              <a:rPr sz="1650" b="1" spc="-20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:</a:t>
            </a:r>
            <a:r>
              <a:rPr lang="en-US" sz="1650" b="1" spc="-10" dirty="0">
                <a:latin typeface="Times New Roman"/>
                <a:cs typeface="Times New Roman"/>
              </a:rPr>
              <a:t>Pavan Teja </a:t>
            </a:r>
            <a:r>
              <a:rPr lang="en-US" sz="1650" b="1" spc="-10" dirty="0" err="1">
                <a:latin typeface="Times New Roman"/>
                <a:cs typeface="Times New Roman"/>
              </a:rPr>
              <a:t>Vinukollu</a:t>
            </a:r>
            <a:endParaRPr sz="16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50" dirty="0">
              <a:latin typeface="Times New Roman"/>
              <a:cs typeface="Times New Roman"/>
            </a:endParaRPr>
          </a:p>
          <a:p>
            <a:pPr marL="247015" indent="-234315">
              <a:lnSpc>
                <a:spcPct val="100000"/>
              </a:lnSpc>
              <a:buSzPct val="118181"/>
              <a:buFont typeface="Arial"/>
              <a:buChar char="•"/>
              <a:tabLst>
                <a:tab pos="247015" algn="l"/>
              </a:tabLst>
            </a:pPr>
            <a:r>
              <a:rPr sz="1650" b="1" dirty="0">
                <a:latin typeface="Times New Roman"/>
                <a:cs typeface="Times New Roman"/>
              </a:rPr>
              <a:t>EDUCATION:</a:t>
            </a:r>
            <a:r>
              <a:rPr sz="1650" b="1" spc="38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B.TECH</a:t>
            </a:r>
            <a:r>
              <a:rPr sz="1650" b="1" spc="-25" dirty="0">
                <a:latin typeface="Times New Roman"/>
                <a:cs typeface="Times New Roman"/>
              </a:rPr>
              <a:t> </a:t>
            </a:r>
            <a:r>
              <a:rPr lang="en-US" sz="1650" b="1" spc="-20" dirty="0">
                <a:latin typeface="Times New Roman"/>
                <a:cs typeface="Times New Roman"/>
              </a:rPr>
              <a:t>(IT</a:t>
            </a:r>
            <a:r>
              <a:rPr sz="1650" b="1" spc="-20" dirty="0">
                <a:latin typeface="Times New Roman"/>
                <a:cs typeface="Times New Roman"/>
              </a:rPr>
              <a:t>)</a:t>
            </a:r>
            <a:endParaRPr sz="16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Char char="•"/>
            </a:pPr>
            <a:endParaRPr sz="1650" dirty="0">
              <a:latin typeface="Times New Roman"/>
              <a:cs typeface="Times New Roman"/>
            </a:endParaRPr>
          </a:p>
          <a:p>
            <a:pPr marL="247015" indent="-234315">
              <a:lnSpc>
                <a:spcPct val="100000"/>
              </a:lnSpc>
              <a:buSzPct val="118181"/>
              <a:buFont typeface="Arial"/>
              <a:buChar char="•"/>
              <a:tabLst>
                <a:tab pos="247015" algn="l"/>
              </a:tabLst>
            </a:pPr>
            <a:r>
              <a:rPr sz="1650" b="1" spc="-10" dirty="0">
                <a:latin typeface="Times New Roman"/>
                <a:cs typeface="Times New Roman"/>
              </a:rPr>
              <a:t>PROFILE:</a:t>
            </a:r>
            <a:endParaRPr sz="1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529" y="4233190"/>
            <a:ext cx="120840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latin typeface="Times New Roman"/>
                <a:cs typeface="Times New Roman"/>
              </a:rPr>
              <a:t>LINKEDIN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spc="-50" dirty="0">
                <a:latin typeface="Arial"/>
                <a:cs typeface="Arial"/>
              </a:rPr>
              <a:t>: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TextBox 5">
            <a:hlinkClick r:id="rId4"/>
            <a:extLst>
              <a:ext uri="{FF2B5EF4-FFF2-40B4-BE49-F238E27FC236}">
                <a16:creationId xmlns:a16="http://schemas.microsoft.com/office/drawing/2014/main" id="{A15D8C72-F7D0-A5F0-9138-B0CFD88EAD5B}"/>
              </a:ext>
            </a:extLst>
          </p:cNvPr>
          <p:cNvSpPr txBox="1"/>
          <p:nvPr/>
        </p:nvSpPr>
        <p:spPr>
          <a:xfrm>
            <a:off x="1676400" y="4234321"/>
            <a:ext cx="6542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linkClick r:id="rId4"/>
              </a:rPr>
              <a:t>https://www.linkedin.com/in/pavan-teja-vinukollu-a2452a272/</a:t>
            </a:r>
            <a:endParaRPr lang="en-IN" sz="1200" dirty="0"/>
          </a:p>
        </p:txBody>
      </p:sp>
      <p:pic>
        <p:nvPicPr>
          <p:cNvPr id="79" name="Audio 78">
            <a:hlinkClick r:id="" action="ppaction://media"/>
            <a:extLst>
              <a:ext uri="{FF2B5EF4-FFF2-40B4-BE49-F238E27FC236}">
                <a16:creationId xmlns:a16="http://schemas.microsoft.com/office/drawing/2014/main" id="{FD5D91B3-F4BD-356B-7C37-9DC4192E72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4"/>
    </mc:Choice>
    <mc:Fallback>
      <p:transition spd="slow" advTm="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0079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125"/>
              </a:spcBef>
            </a:pPr>
            <a:r>
              <a:rPr b="0" dirty="0">
                <a:solidFill>
                  <a:srgbClr val="BF0000"/>
                </a:solidFill>
                <a:latin typeface="Times New Roman"/>
                <a:cs typeface="Times New Roman"/>
              </a:rPr>
              <a:t>OBJECTIVE</a:t>
            </a:r>
            <a:r>
              <a:rPr b="0" spc="-7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BF0000"/>
                </a:solidFill>
                <a:latin typeface="Times New Roman"/>
                <a:cs typeface="Times New Roman"/>
              </a:rPr>
              <a:t>OF</a:t>
            </a:r>
            <a:r>
              <a:rPr b="0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950" b="0" dirty="0">
                <a:solidFill>
                  <a:srgbClr val="BF0000"/>
                </a:solidFill>
                <a:latin typeface="Times New Roman"/>
                <a:cs typeface="Times New Roman"/>
              </a:rPr>
              <a:t>THE</a:t>
            </a:r>
            <a:r>
              <a:rPr sz="2950" b="0" spc="-1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BF0000"/>
                </a:solidFill>
                <a:latin typeface="Times New Roman"/>
                <a:cs typeface="Times New Roman"/>
              </a:rPr>
              <a:t>PROJECT</a:t>
            </a:r>
            <a:r>
              <a:rPr b="0" spc="-7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b="0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745" y="2346436"/>
            <a:ext cx="8901430" cy="2289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5910" algn="l"/>
              </a:tabLst>
            </a:pPr>
            <a:r>
              <a:rPr sz="1650" b="1" dirty="0">
                <a:latin typeface="Times New Roman"/>
                <a:cs typeface="Times New Roman"/>
              </a:rPr>
              <a:t>To</a:t>
            </a:r>
            <a:r>
              <a:rPr sz="1650" b="1" spc="27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manage</a:t>
            </a:r>
            <a:r>
              <a:rPr sz="1650" b="1" spc="28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employee</a:t>
            </a:r>
            <a:r>
              <a:rPr sz="1650" b="1" spc="28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information</a:t>
            </a:r>
            <a:r>
              <a:rPr sz="1650" b="1" spc="2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such</a:t>
            </a:r>
            <a:r>
              <a:rPr sz="1650" spc="28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as</a:t>
            </a:r>
            <a:r>
              <a:rPr sz="1650" spc="2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personal</a:t>
            </a:r>
            <a:r>
              <a:rPr sz="1650" spc="2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details,</a:t>
            </a:r>
            <a:r>
              <a:rPr sz="1650" spc="28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job</a:t>
            </a:r>
            <a:r>
              <a:rPr sz="1650" spc="2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departments,</a:t>
            </a:r>
            <a:r>
              <a:rPr sz="1650" spc="29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qualifications,</a:t>
            </a:r>
            <a:r>
              <a:rPr sz="1650" spc="275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and </a:t>
            </a:r>
            <a:r>
              <a:rPr sz="1650" dirty="0">
                <a:latin typeface="Times New Roman"/>
                <a:cs typeface="Times New Roman"/>
              </a:rPr>
              <a:t>contact</a:t>
            </a:r>
            <a:r>
              <a:rPr sz="1650" spc="-8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information</a:t>
            </a:r>
            <a:r>
              <a:rPr sz="1650" spc="-9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efficiently.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Font typeface="Arial"/>
              <a:buChar char="•"/>
              <a:tabLst>
                <a:tab pos="295910" algn="l"/>
              </a:tabLst>
            </a:pPr>
            <a:r>
              <a:rPr sz="1650" b="1" dirty="0">
                <a:latin typeface="Times New Roman"/>
                <a:cs typeface="Times New Roman"/>
              </a:rPr>
              <a:t>To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manage</a:t>
            </a:r>
            <a:r>
              <a:rPr sz="1650" b="1" spc="-2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salary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and</a:t>
            </a:r>
            <a:r>
              <a:rPr sz="1650" b="1" spc="-2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bonus</a:t>
            </a:r>
            <a:r>
              <a:rPr sz="1650" b="1" spc="-3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details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calculate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payroll</a:t>
            </a:r>
            <a:r>
              <a:rPr sz="1650" spc="-10" dirty="0">
                <a:latin typeface="Times New Roman"/>
                <a:cs typeface="Times New Roman"/>
              </a:rPr>
              <a:t> accurately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for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employees.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Font typeface="Arial"/>
              <a:buChar char="•"/>
              <a:tabLst>
                <a:tab pos="295910" algn="l"/>
              </a:tabLst>
            </a:pPr>
            <a:r>
              <a:rPr sz="1650" b="1" dirty="0">
                <a:latin typeface="Times New Roman"/>
                <a:cs typeface="Times New Roman"/>
              </a:rPr>
              <a:t>To</a:t>
            </a:r>
            <a:r>
              <a:rPr sz="1650" b="1" spc="-4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track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employee</a:t>
            </a:r>
            <a:r>
              <a:rPr sz="1650" b="1" spc="-6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leaves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maintain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proper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records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leave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dates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reasons.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295910" marR="5715" indent="-28384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5910" algn="l"/>
              </a:tabLst>
            </a:pPr>
            <a:r>
              <a:rPr sz="1650" b="1" dirty="0">
                <a:latin typeface="Times New Roman"/>
                <a:cs typeface="Times New Roman"/>
              </a:rPr>
              <a:t>To</a:t>
            </a:r>
            <a:r>
              <a:rPr sz="1650" b="1" spc="9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generate</a:t>
            </a:r>
            <a:r>
              <a:rPr sz="1650" b="1" spc="9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useful</a:t>
            </a:r>
            <a:r>
              <a:rPr sz="1650" b="1" spc="8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reports</a:t>
            </a:r>
            <a:r>
              <a:rPr sz="1650" b="1" spc="10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and</a:t>
            </a:r>
            <a:r>
              <a:rPr sz="1650" b="1" spc="10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insights</a:t>
            </a:r>
            <a:r>
              <a:rPr sz="1650" b="1" spc="10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about</a:t>
            </a:r>
            <a:r>
              <a:rPr sz="1650" spc="10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employees,</a:t>
            </a:r>
            <a:r>
              <a:rPr sz="1650" spc="1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qualifications,</a:t>
            </a:r>
            <a:r>
              <a:rPr sz="1650" spc="10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salaries,</a:t>
            </a:r>
            <a:r>
              <a:rPr sz="1650" spc="10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bonuses,</a:t>
            </a:r>
            <a:r>
              <a:rPr sz="1650" spc="10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leaves,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payroll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using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SQL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queries.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59" name="Audio 58">
            <a:hlinkClick r:id="" action="ppaction://media"/>
            <a:extLst>
              <a:ext uri="{FF2B5EF4-FFF2-40B4-BE49-F238E27FC236}">
                <a16:creationId xmlns:a16="http://schemas.microsoft.com/office/drawing/2014/main" id="{1C7C2B53-7CF0-C227-46C5-F330C68E47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1"/>
    </mc:Choice>
    <mc:Fallback>
      <p:transition spd="slow" advTm="8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860" y="1877567"/>
            <a:ext cx="6999732" cy="48387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4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u="sng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ER</a:t>
            </a:r>
            <a:r>
              <a:rPr sz="2950" u="sng" spc="-22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 </a:t>
            </a:r>
            <a:r>
              <a:rPr sz="2950" u="sng" spc="-1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Diagram</a:t>
            </a:r>
            <a:r>
              <a:rPr sz="1950" u="sng" spc="-1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:</a:t>
            </a:r>
            <a:endParaRPr sz="1950"/>
          </a:p>
        </p:txBody>
      </p:sp>
      <p:pic>
        <p:nvPicPr>
          <p:cNvPr id="57" name="Audio 56">
            <a:hlinkClick r:id="" action="ppaction://media"/>
            <a:extLst>
              <a:ext uri="{FF2B5EF4-FFF2-40B4-BE49-F238E27FC236}">
                <a16:creationId xmlns:a16="http://schemas.microsoft.com/office/drawing/2014/main" id="{48399FC6-EB21-115A-7232-3C62E7574C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70672" t="-170672" r="-170672" b="-170672"/>
          <a:stretch>
            <a:fillRect/>
          </a:stretch>
        </p:blipFill>
        <p:spPr>
          <a:xfrm>
            <a:off x="7924799" y="0"/>
            <a:ext cx="2150947" cy="21509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96"/>
    </mc:Choice>
    <mc:Fallback>
      <p:transition spd="slow" advTm="80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90"/>
              </a:spcBef>
            </a:pPr>
            <a:r>
              <a:rPr u="sng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ER</a:t>
            </a:r>
            <a:r>
              <a:rPr u="sng" spc="-9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 </a:t>
            </a:r>
            <a:r>
              <a:rPr u="sng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DIAGRAM</a:t>
            </a:r>
            <a:r>
              <a:rPr u="sng" spc="-7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 </a:t>
            </a:r>
            <a:r>
              <a:rPr u="sng" spc="-1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HIGHLIGHTS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900" y="2177302"/>
            <a:ext cx="7505065" cy="3798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Times New Roman"/>
              <a:buChar char="▪"/>
              <a:tabLst>
                <a:tab pos="295910" algn="l"/>
              </a:tabLst>
            </a:pPr>
            <a:r>
              <a:rPr sz="1650" dirty="0">
                <a:latin typeface="Arial"/>
                <a:cs typeface="Arial"/>
              </a:rPr>
              <a:t>The</a:t>
            </a:r>
            <a:r>
              <a:rPr sz="1650" spc="-5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ER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diagram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represents</a:t>
            </a:r>
            <a:r>
              <a:rPr sz="1650" spc="-5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the</a:t>
            </a:r>
            <a:r>
              <a:rPr sz="1650" spc="-5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Employee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Payroll</a:t>
            </a:r>
            <a:r>
              <a:rPr sz="1650" b="1" spc="-5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Management</a:t>
            </a:r>
            <a:r>
              <a:rPr sz="1650" b="1" spc="-60" dirty="0">
                <a:latin typeface="Arial"/>
                <a:cs typeface="Arial"/>
              </a:rPr>
              <a:t> </a:t>
            </a:r>
            <a:r>
              <a:rPr sz="1650" b="1" spc="-10" dirty="0">
                <a:latin typeface="Arial"/>
                <a:cs typeface="Arial"/>
              </a:rPr>
              <a:t>System</a:t>
            </a:r>
            <a:r>
              <a:rPr sz="1650" spc="-10" dirty="0"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Times New Roman"/>
              <a:buChar char="▪"/>
            </a:pPr>
            <a:endParaRPr sz="16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buFont typeface="Times New Roman"/>
              <a:buChar char="▪"/>
              <a:tabLst>
                <a:tab pos="295910" algn="l"/>
              </a:tabLst>
            </a:pPr>
            <a:r>
              <a:rPr sz="1650" b="1" dirty="0">
                <a:latin typeface="Arial"/>
                <a:cs typeface="Arial"/>
              </a:rPr>
              <a:t>Employee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is</a:t>
            </a:r>
            <a:r>
              <a:rPr sz="1650" spc="-2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the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central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entity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containing</a:t>
            </a:r>
            <a:r>
              <a:rPr sz="1650" spc="-6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employee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details.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Times New Roman"/>
              <a:buChar char="▪"/>
            </a:pPr>
            <a:endParaRPr sz="16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buFont typeface="Times New Roman"/>
              <a:buChar char="▪"/>
              <a:tabLst>
                <a:tab pos="295910" algn="l"/>
              </a:tabLst>
            </a:pPr>
            <a:r>
              <a:rPr sz="1650" b="1" dirty="0">
                <a:latin typeface="Arial"/>
                <a:cs typeface="Arial"/>
              </a:rPr>
              <a:t>JobDepartment</a:t>
            </a:r>
            <a:r>
              <a:rPr sz="1650" b="1" spc="-6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stores</a:t>
            </a:r>
            <a:r>
              <a:rPr sz="1650" spc="-5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job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roles,</a:t>
            </a:r>
            <a:r>
              <a:rPr sz="1650" spc="-5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departments,</a:t>
            </a:r>
            <a:r>
              <a:rPr sz="1650" spc="-7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and</a:t>
            </a:r>
            <a:r>
              <a:rPr sz="1650" spc="-5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job</a:t>
            </a:r>
            <a:r>
              <a:rPr sz="1650" spc="-3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descriptions.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Times New Roman"/>
              <a:buChar char="▪"/>
            </a:pPr>
            <a:endParaRPr sz="16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buFont typeface="Times New Roman"/>
              <a:buChar char="▪"/>
              <a:tabLst>
                <a:tab pos="295910" algn="l"/>
              </a:tabLst>
            </a:pPr>
            <a:r>
              <a:rPr sz="1650" b="1" dirty="0">
                <a:latin typeface="Arial"/>
                <a:cs typeface="Arial"/>
              </a:rPr>
              <a:t>SalaryBonus</a:t>
            </a:r>
            <a:r>
              <a:rPr sz="1650" b="1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maintains</a:t>
            </a:r>
            <a:r>
              <a:rPr sz="1650" spc="-5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salary,</a:t>
            </a:r>
            <a:r>
              <a:rPr sz="1650" spc="-2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annual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pay,</a:t>
            </a:r>
            <a:r>
              <a:rPr sz="1650" spc="-2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and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bonus</a:t>
            </a:r>
            <a:r>
              <a:rPr sz="1650" spc="-5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information.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Times New Roman"/>
              <a:buChar char="▪"/>
            </a:pPr>
            <a:endParaRPr sz="16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buFont typeface="Times New Roman"/>
              <a:buChar char="▪"/>
              <a:tabLst>
                <a:tab pos="295910" algn="l"/>
              </a:tabLst>
            </a:pPr>
            <a:r>
              <a:rPr sz="1650" b="1" spc="-10" dirty="0">
                <a:latin typeface="Arial"/>
                <a:cs typeface="Arial"/>
              </a:rPr>
              <a:t>Qualification</a:t>
            </a:r>
            <a:r>
              <a:rPr sz="1650" b="1" spc="-5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records</a:t>
            </a:r>
            <a:r>
              <a:rPr sz="1650" spc="-3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the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qualifications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each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employee.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Times New Roman"/>
              <a:buChar char="▪"/>
            </a:pPr>
            <a:endParaRPr sz="16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5"/>
              </a:spcBef>
              <a:buFont typeface="Times New Roman"/>
              <a:buChar char="▪"/>
              <a:tabLst>
                <a:tab pos="295910" algn="l"/>
              </a:tabLst>
            </a:pPr>
            <a:r>
              <a:rPr sz="1650" b="1" dirty="0">
                <a:latin typeface="Arial"/>
                <a:cs typeface="Arial"/>
              </a:rPr>
              <a:t>Leaves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stores</a:t>
            </a:r>
            <a:r>
              <a:rPr sz="1650" spc="-3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employee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leave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dates</a:t>
            </a:r>
            <a:r>
              <a:rPr sz="1650" spc="-5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and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reasons.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Times New Roman"/>
              <a:buChar char="▪"/>
            </a:pPr>
            <a:endParaRPr sz="16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buFont typeface="Times New Roman"/>
              <a:buChar char="▪"/>
              <a:tabLst>
                <a:tab pos="295910" algn="l"/>
              </a:tabLst>
            </a:pPr>
            <a:r>
              <a:rPr sz="1650" b="1" dirty="0">
                <a:latin typeface="Arial"/>
                <a:cs typeface="Arial"/>
              </a:rPr>
              <a:t>Payroll</a:t>
            </a:r>
            <a:r>
              <a:rPr sz="1650" b="1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connects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employee,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job,</a:t>
            </a:r>
            <a:r>
              <a:rPr sz="1650" spc="-3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salary,</a:t>
            </a:r>
            <a:r>
              <a:rPr sz="1650" spc="-2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and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leave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information.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Times New Roman"/>
              <a:buChar char="▪"/>
            </a:pPr>
            <a:endParaRPr sz="16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5"/>
              </a:spcBef>
              <a:buFont typeface="Times New Roman"/>
              <a:buChar char="▪"/>
              <a:tabLst>
                <a:tab pos="295910" algn="l"/>
              </a:tabLst>
            </a:pPr>
            <a:r>
              <a:rPr sz="1650" b="1" dirty="0">
                <a:latin typeface="Arial"/>
                <a:cs typeface="Arial"/>
              </a:rPr>
              <a:t>Primary</a:t>
            </a:r>
            <a:r>
              <a:rPr sz="1650" b="1" spc="-5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and</a:t>
            </a:r>
            <a:r>
              <a:rPr sz="1650" b="1" spc="-2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foreign</a:t>
            </a:r>
            <a:r>
              <a:rPr sz="1650" b="1" spc="-4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keys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establish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relationships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and</a:t>
            </a:r>
            <a:r>
              <a:rPr sz="1650" spc="-3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maintain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data</a:t>
            </a:r>
            <a:r>
              <a:rPr sz="1650" spc="-3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integrity.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44" name="Audio 43">
            <a:hlinkClick r:id="" action="ppaction://media"/>
            <a:extLst>
              <a:ext uri="{FF2B5EF4-FFF2-40B4-BE49-F238E27FC236}">
                <a16:creationId xmlns:a16="http://schemas.microsoft.com/office/drawing/2014/main" id="{9860DED8-9810-263B-9B36-2936481EC2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73376" t="-173376" r="-173376" b="-173376"/>
          <a:stretch>
            <a:fillRect/>
          </a:stretch>
        </p:blipFill>
        <p:spPr>
          <a:xfrm>
            <a:off x="7881098" y="0"/>
            <a:ext cx="2177302" cy="2177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211"/>
    </mc:Choice>
    <mc:Fallback>
      <p:transition spd="slow" advTm="592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547" y="1154716"/>
            <a:ext cx="236156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0" dirty="0">
                <a:latin typeface="Arial"/>
                <a:cs typeface="Arial"/>
              </a:rPr>
              <a:t>1.</a:t>
            </a:r>
            <a:r>
              <a:rPr sz="1950" b="0" spc="40" dirty="0">
                <a:latin typeface="Arial"/>
                <a:cs typeface="Arial"/>
              </a:rPr>
              <a:t> </a:t>
            </a:r>
            <a:r>
              <a:rPr sz="1950" b="0" dirty="0">
                <a:latin typeface="Arial"/>
                <a:cs typeface="Arial"/>
              </a:rPr>
              <a:t>Employee</a:t>
            </a:r>
            <a:r>
              <a:rPr sz="1950" b="0" spc="65" dirty="0">
                <a:latin typeface="Arial"/>
                <a:cs typeface="Arial"/>
              </a:rPr>
              <a:t> </a:t>
            </a:r>
            <a:r>
              <a:rPr sz="1950" b="0" spc="-10" dirty="0">
                <a:latin typeface="Arial"/>
                <a:cs typeface="Arial"/>
              </a:rPr>
              <a:t>Insights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973" y="1800835"/>
            <a:ext cx="5904865" cy="739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Times New Roman"/>
                <a:cs typeface="Times New Roman"/>
              </a:rPr>
              <a:t>Question</a:t>
            </a:r>
            <a:r>
              <a:rPr sz="1650" spc="-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1: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How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many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unique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employees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are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currently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system?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SQL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QUERY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022" y="2941270"/>
            <a:ext cx="9271617" cy="3246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7973" y="3740886"/>
            <a:ext cx="107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OUT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PUT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6636" y="4197096"/>
            <a:ext cx="2933699" cy="6857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7973" y="5223754"/>
            <a:ext cx="474853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INSIGHT:</a:t>
            </a:r>
            <a:endParaRPr sz="1650">
              <a:latin typeface="Times New Roman"/>
              <a:cs typeface="Times New Roman"/>
            </a:endParaRPr>
          </a:p>
          <a:p>
            <a:pPr marL="64135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Counts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total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number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unique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employees </a:t>
            </a:r>
            <a:r>
              <a:rPr sz="1650" spc="-10" dirty="0">
                <a:latin typeface="Times New Roman"/>
                <a:cs typeface="Times New Roman"/>
              </a:rPr>
              <a:t>currently.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48" name="Audio 47">
            <a:hlinkClick r:id="" action="ppaction://media"/>
            <a:extLst>
              <a:ext uri="{FF2B5EF4-FFF2-40B4-BE49-F238E27FC236}">
                <a16:creationId xmlns:a16="http://schemas.microsoft.com/office/drawing/2014/main" id="{01A5EB8A-4034-BD33-5296-076239199D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962"/>
    </mc:Choice>
    <mc:Fallback>
      <p:transition spd="slow" advTm="189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135" y="1151618"/>
            <a:ext cx="5080635" cy="823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QUESTION</a:t>
            </a:r>
            <a:r>
              <a:rPr sz="1650" b="1" spc="-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2.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Which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departments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have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highest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number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employees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imes New Roman"/>
                <a:cs typeface="Times New Roman"/>
              </a:rPr>
              <a:t>?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SQL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QUERY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998" y="2193036"/>
            <a:ext cx="7855271" cy="10010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4135" y="3838443"/>
            <a:ext cx="107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OUT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PUT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7072" y="4096511"/>
            <a:ext cx="2385059" cy="16337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4135" y="5741936"/>
            <a:ext cx="506285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INSIGHT: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Identifies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departments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with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largest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employee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workforce.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47" name="Audio 46">
            <a:hlinkClick r:id="" action="ppaction://media"/>
            <a:extLst>
              <a:ext uri="{FF2B5EF4-FFF2-40B4-BE49-F238E27FC236}">
                <a16:creationId xmlns:a16="http://schemas.microsoft.com/office/drawing/2014/main" id="{51BF7C65-F28F-A6FF-B4EA-6F9FD6DA65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271"/>
    </mc:Choice>
    <mc:Fallback>
      <p:transition spd="slow" advTm="242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97" y="1076961"/>
            <a:ext cx="3649979" cy="887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Question</a:t>
            </a:r>
            <a:r>
              <a:rPr sz="1650" b="1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3.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Who are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top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5</a:t>
            </a:r>
            <a:r>
              <a:rPr sz="1650" spc="-10" dirty="0">
                <a:latin typeface="Times New Roman"/>
                <a:cs typeface="Times New Roman"/>
              </a:rPr>
              <a:t> highest-</a:t>
            </a:r>
            <a:r>
              <a:rPr sz="1650" dirty="0">
                <a:latin typeface="Times New Roman"/>
                <a:cs typeface="Times New Roman"/>
              </a:rPr>
              <a:t>paid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employees?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SQL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QUERY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9766" y="2080260"/>
            <a:ext cx="4662919" cy="16006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1914" y="3836903"/>
            <a:ext cx="107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OUT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PUT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8283" y="4283964"/>
            <a:ext cx="2960022" cy="14674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9832" y="5985829"/>
            <a:ext cx="587692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" dirty="0">
                <a:solidFill>
                  <a:srgbClr val="BF0000"/>
                </a:solidFill>
                <a:latin typeface="Times New Roman"/>
                <a:cs typeface="Times New Roman"/>
              </a:rPr>
              <a:t>Insight:</a:t>
            </a:r>
            <a:endParaRPr sz="1650">
              <a:latin typeface="Times New Roman"/>
              <a:cs typeface="Times New Roman"/>
            </a:endParaRPr>
          </a:p>
          <a:p>
            <a:pPr marL="64135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Identifies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top</a:t>
            </a:r>
            <a:r>
              <a:rPr sz="1650" b="1" spc="-2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5</a:t>
            </a:r>
            <a:r>
              <a:rPr sz="1650" b="1" spc="-1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highest-</a:t>
            </a:r>
            <a:r>
              <a:rPr sz="1650" b="1" dirty="0">
                <a:latin typeface="Times New Roman"/>
                <a:cs typeface="Times New Roman"/>
              </a:rPr>
              <a:t>paid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employees</a:t>
            </a:r>
            <a:r>
              <a:rPr sz="1650" b="1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based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on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salary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amount.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32" name="Audio 31">
            <a:hlinkClick r:id="" action="ppaction://media"/>
            <a:extLst>
              <a:ext uri="{FF2B5EF4-FFF2-40B4-BE49-F238E27FC236}">
                <a16:creationId xmlns:a16="http://schemas.microsoft.com/office/drawing/2014/main" id="{2633B4BB-C1C2-3E4F-C554-A90D91EE8A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087"/>
    </mc:Choice>
    <mc:Fallback>
      <p:transition spd="slow" advTm="310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433" y="1233977"/>
            <a:ext cx="4686935" cy="1174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332865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2.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Job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Role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and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Department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Analysis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Question</a:t>
            </a:r>
            <a:r>
              <a:rPr sz="1650" b="1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4.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How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many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different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job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roles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exist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each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department?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SQL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QUERY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7231" y="2534237"/>
            <a:ext cx="6392094" cy="6064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6433" y="3675369"/>
            <a:ext cx="107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OUT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PUT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1124" y="4059935"/>
            <a:ext cx="2427732" cy="17571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497" y="6101563"/>
            <a:ext cx="6944359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Insight: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dirty="0">
                <a:latin typeface="Arial"/>
                <a:cs typeface="Arial"/>
              </a:rPr>
              <a:t>Identifies</a:t>
            </a:r>
            <a:r>
              <a:rPr sz="1650" spc="-5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the</a:t>
            </a:r>
            <a:r>
              <a:rPr sz="1650" spc="-2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number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1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distinct</a:t>
            </a:r>
            <a:r>
              <a:rPr sz="1650" spc="-5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job</a:t>
            </a:r>
            <a:r>
              <a:rPr sz="1650" spc="-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roles</a:t>
            </a:r>
            <a:r>
              <a:rPr sz="1650" spc="-3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available</a:t>
            </a:r>
            <a:r>
              <a:rPr sz="1650" spc="-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within</a:t>
            </a:r>
            <a:r>
              <a:rPr sz="1650" spc="-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each</a:t>
            </a:r>
            <a:r>
              <a:rPr sz="1650" spc="-3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department.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28" name="Audio 27">
            <a:hlinkClick r:id="" action="ppaction://media"/>
            <a:extLst>
              <a:ext uri="{FF2B5EF4-FFF2-40B4-BE49-F238E27FC236}">
                <a16:creationId xmlns:a16="http://schemas.microsoft.com/office/drawing/2014/main" id="{8AF296D4-DA2A-420C-D491-C565F4E85C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350"/>
    </mc:Choice>
    <mc:Fallback>
      <p:transition spd="slow" advTm="263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97" y="1211077"/>
            <a:ext cx="5749290" cy="1005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Question</a:t>
            </a:r>
            <a:r>
              <a:rPr sz="1650" b="1" spc="-4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5.</a:t>
            </a:r>
            <a:r>
              <a:rPr sz="1650" b="1" spc="39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What</a:t>
            </a:r>
            <a:r>
              <a:rPr sz="1650" b="1" spc="-5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is</a:t>
            </a:r>
            <a:r>
              <a:rPr sz="1650" b="1" spc="-2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the</a:t>
            </a:r>
            <a:r>
              <a:rPr sz="1650" b="1" spc="-2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average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salary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range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per</a:t>
            </a:r>
            <a:r>
              <a:rPr sz="1650" b="1" spc="-1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department?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SQL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QUERY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763" y="2479548"/>
            <a:ext cx="5955548" cy="12009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497" y="4059435"/>
            <a:ext cx="107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OUT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PUT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1019" y="4366260"/>
            <a:ext cx="1862462" cy="16299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4676" y="6196117"/>
            <a:ext cx="617410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Insight:</a:t>
            </a:r>
            <a:r>
              <a:rPr sz="1650" b="1" spc="-7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Calculates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average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salary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value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for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each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department,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helping </a:t>
            </a:r>
            <a:r>
              <a:rPr sz="1650" dirty="0">
                <a:latin typeface="Times New Roman"/>
                <a:cs typeface="Times New Roman"/>
              </a:rPr>
              <a:t>compare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typical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salary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levels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across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departments..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BB902684-CC7B-C02A-CEDC-E38FC9DACD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41"/>
    </mc:Choice>
    <mc:Fallback>
      <p:transition spd="slow" advTm="111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97" y="1259855"/>
            <a:ext cx="4491355" cy="771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Question</a:t>
            </a:r>
            <a:r>
              <a:rPr sz="1650" b="1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6.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Which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job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roles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offer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highest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salary?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SQL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QUERY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759" y="2214227"/>
            <a:ext cx="3998286" cy="127171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497" y="3905501"/>
            <a:ext cx="107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OUT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PUT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39" y="4283964"/>
            <a:ext cx="2393097" cy="13502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497" y="5711437"/>
            <a:ext cx="6807834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Insight: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650" dirty="0">
                <a:latin typeface="Times New Roman"/>
                <a:cs typeface="Times New Roman"/>
              </a:rPr>
              <a:t>Identifies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job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roles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offering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highest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salaries,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enabling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comparison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most </a:t>
            </a:r>
            <a:r>
              <a:rPr sz="1650" dirty="0">
                <a:latin typeface="Times New Roman"/>
                <a:cs typeface="Times New Roman"/>
              </a:rPr>
              <a:t>lucrative</a:t>
            </a:r>
            <a:r>
              <a:rPr sz="1650" spc="-10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positions.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29988D0C-C8B6-73EF-E5F9-0FF8FAE9B7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967"/>
    </mc:Choice>
    <mc:Fallback>
      <p:transition spd="slow" advTm="209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97" y="1076961"/>
            <a:ext cx="5619750" cy="1262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3.</a:t>
            </a:r>
            <a:r>
              <a:rPr sz="1650" b="1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Leave</a:t>
            </a:r>
            <a:r>
              <a:rPr sz="1650" b="1" spc="-3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and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Absence</a:t>
            </a:r>
            <a:r>
              <a:rPr sz="1650" b="1" spc="-4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Patterns</a:t>
            </a:r>
            <a:endParaRPr sz="1650">
              <a:latin typeface="Times New Roman"/>
              <a:cs typeface="Times New Roman"/>
            </a:endParaRPr>
          </a:p>
          <a:p>
            <a:pPr marL="119380" marR="5080" indent="-107314">
              <a:lnSpc>
                <a:spcPct val="191500"/>
              </a:lnSpc>
              <a:spcBef>
                <a:spcPts val="170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Question</a:t>
            </a:r>
            <a:r>
              <a:rPr sz="1650" b="1" spc="-6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7.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Which</a:t>
            </a:r>
            <a:r>
              <a:rPr sz="1650" b="1" spc="-5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year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had</a:t>
            </a:r>
            <a:r>
              <a:rPr sz="1650" b="1" spc="-2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the</a:t>
            </a:r>
            <a:r>
              <a:rPr sz="1650" b="1" spc="-2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most</a:t>
            </a:r>
            <a:r>
              <a:rPr sz="1650" b="1" spc="-3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employees</a:t>
            </a:r>
            <a:r>
              <a:rPr sz="1650" b="1" spc="-5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taking</a:t>
            </a:r>
            <a:r>
              <a:rPr sz="1650" b="1" spc="-30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leaves?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SQL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QUERY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478" y="2688156"/>
            <a:ext cx="6060504" cy="938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497" y="4268208"/>
            <a:ext cx="107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OUT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PUT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2815" y="4998720"/>
            <a:ext cx="2203703" cy="4027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497" y="6010167"/>
            <a:ext cx="665797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Insight:</a:t>
            </a:r>
            <a:r>
              <a:rPr sz="1650" b="1" spc="-7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Identifies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year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with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highest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number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employees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taking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leave, </a:t>
            </a:r>
            <a:r>
              <a:rPr sz="1650" dirty="0">
                <a:latin typeface="Times New Roman"/>
                <a:cs typeface="Times New Roman"/>
              </a:rPr>
              <a:t>helping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analyze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annual</a:t>
            </a:r>
            <a:r>
              <a:rPr sz="1650" spc="-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leave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trends.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0A9FEFF1-37BC-4DB1-D596-AF2DC59F2A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879"/>
    </mc:Choice>
    <mc:Fallback>
      <p:transition spd="slow" advTm="218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97" y="1390890"/>
            <a:ext cx="737171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Question</a:t>
            </a:r>
            <a:r>
              <a:rPr sz="1650" b="1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8.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latin typeface="Times New Roman"/>
                <a:cs typeface="Times New Roman"/>
              </a:rPr>
              <a:t>What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is</a:t>
            </a:r>
            <a:r>
              <a:rPr sz="1650" b="1" spc="-3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the</a:t>
            </a:r>
            <a:r>
              <a:rPr sz="1650" b="1" spc="-1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average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number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of</a:t>
            </a:r>
            <a:r>
              <a:rPr sz="1650" b="1" spc="-1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leave</a:t>
            </a:r>
            <a:r>
              <a:rPr sz="1650" b="1" spc="-2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days</a:t>
            </a:r>
            <a:r>
              <a:rPr sz="1650" b="1" spc="-6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taken</a:t>
            </a:r>
            <a:r>
              <a:rPr sz="1650" b="1" spc="-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by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its</a:t>
            </a:r>
            <a:r>
              <a:rPr sz="1650" b="1" spc="-3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employees</a:t>
            </a:r>
            <a:r>
              <a:rPr sz="1650" b="1" spc="-6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per</a:t>
            </a:r>
            <a:r>
              <a:rPr sz="1650" b="1" spc="-20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department?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SQL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QUERY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7669" y="2529839"/>
            <a:ext cx="6126220" cy="14671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497" y="4156993"/>
            <a:ext cx="107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OUT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PUT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97" y="5917231"/>
            <a:ext cx="6861175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Insight: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Measures</a:t>
            </a:r>
            <a:r>
              <a:rPr sz="1650" spc="-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average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leave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days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taken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by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employees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each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department,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helping </a:t>
            </a:r>
            <a:r>
              <a:rPr sz="1650" dirty="0">
                <a:latin typeface="Times New Roman"/>
                <a:cs typeface="Times New Roman"/>
              </a:rPr>
              <a:t>compare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leave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patterns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across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departments.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736" y="4440935"/>
            <a:ext cx="1829627" cy="1551432"/>
          </a:xfrm>
          <a:prstGeom prst="rect">
            <a:avLst/>
          </a:prstGeom>
        </p:spPr>
      </p:pic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E0CF34DD-0988-A3F1-BC1A-3AC2F8C370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071"/>
    </mc:Choice>
    <mc:Fallback>
      <p:transition spd="slow" advTm="340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97" y="1076961"/>
            <a:ext cx="3973195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Question</a:t>
            </a:r>
            <a:r>
              <a:rPr sz="1650" b="1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9.</a:t>
            </a:r>
            <a:endParaRPr sz="1650">
              <a:latin typeface="Times New Roman"/>
              <a:cs typeface="Times New Roman"/>
            </a:endParaRPr>
          </a:p>
          <a:p>
            <a:pPr marL="64135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Which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employees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have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taken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most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leaves?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SQL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QUERY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725" y="1969007"/>
            <a:ext cx="4854495" cy="11262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497" y="3591572"/>
            <a:ext cx="107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OUT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PUT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97" y="5854692"/>
            <a:ext cx="5283835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Insight: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Identifies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employees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with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highest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number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leave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records, </a:t>
            </a:r>
            <a:r>
              <a:rPr sz="1650" dirty="0">
                <a:latin typeface="Times New Roman"/>
                <a:cs typeface="Times New Roman"/>
              </a:rPr>
              <a:t>highlighting</a:t>
            </a:r>
            <a:r>
              <a:rPr sz="1650" spc="-8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frequent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leave</a:t>
            </a:r>
            <a:r>
              <a:rPr sz="1650" spc="-7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takers.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6636" y="3884676"/>
            <a:ext cx="1956815" cy="20238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65475" y="3884676"/>
            <a:ext cx="1956816" cy="20238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2979" y="3884676"/>
            <a:ext cx="1958339" cy="20238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70776" y="3884676"/>
            <a:ext cx="1958339" cy="1163229"/>
          </a:xfrm>
          <a:prstGeom prst="rect">
            <a:avLst/>
          </a:prstGeom>
        </p:spPr>
      </p:pic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C8163A28-D823-E8D4-90CB-69BA309300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89218" t="-189218" r="-189218" b="-189218"/>
          <a:stretch>
            <a:fillRect/>
          </a:stretch>
        </p:blipFill>
        <p:spPr>
          <a:xfrm>
            <a:off x="7633411" y="5347411"/>
            <a:ext cx="2331720" cy="233172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37"/>
    </mc:Choice>
    <mc:Fallback>
      <p:transition spd="slow" advTm="76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97" y="1150078"/>
            <a:ext cx="467931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5.</a:t>
            </a:r>
            <a:r>
              <a:rPr sz="1650" b="1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PAYROLL</a:t>
            </a:r>
            <a:r>
              <a:rPr sz="1650" b="1" spc="-3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AND</a:t>
            </a:r>
            <a:r>
              <a:rPr sz="1650" b="1" spc="-3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COMPENSATION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ANALYSIS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Question</a:t>
            </a:r>
            <a:r>
              <a:rPr sz="1650" b="1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10.</a:t>
            </a:r>
            <a:endParaRPr sz="1650">
              <a:latin typeface="Times New Roman"/>
              <a:cs typeface="Times New Roman"/>
            </a:endParaRPr>
          </a:p>
          <a:p>
            <a:pPr marL="12700" marR="654050">
              <a:lnSpc>
                <a:spcPct val="100000"/>
              </a:lnSpc>
            </a:pPr>
            <a:r>
              <a:rPr sz="1650" b="1" dirty="0">
                <a:latin typeface="Times New Roman"/>
                <a:cs typeface="Times New Roman"/>
              </a:rPr>
              <a:t>What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is</a:t>
            </a:r>
            <a:r>
              <a:rPr sz="1650" b="1" spc="-2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the</a:t>
            </a:r>
            <a:r>
              <a:rPr sz="1650" b="1" spc="-1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total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monthly</a:t>
            </a:r>
            <a:r>
              <a:rPr sz="1650" b="1" spc="-3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payroll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processed?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SQL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QUERY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801" y="2433827"/>
            <a:ext cx="8920100" cy="79400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497" y="3916181"/>
            <a:ext cx="107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OUT</a:t>
            </a:r>
            <a:r>
              <a:rPr sz="1650" b="1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BF0000"/>
                </a:solidFill>
                <a:latin typeface="Times New Roman"/>
                <a:cs typeface="Times New Roman"/>
              </a:rPr>
              <a:t>PUT</a:t>
            </a:r>
            <a:r>
              <a:rPr sz="1650" b="1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50" b="1" spc="-50" dirty="0">
                <a:solidFill>
                  <a:srgbClr val="BF0000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4507" y="4546091"/>
            <a:ext cx="2988564" cy="6233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497" y="5676419"/>
            <a:ext cx="617093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Insight: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Calculates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total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payroll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processed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each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month,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helping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monitor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salary </a:t>
            </a:r>
            <a:r>
              <a:rPr sz="1650" dirty="0">
                <a:latin typeface="Times New Roman"/>
                <a:cs typeface="Times New Roman"/>
              </a:rPr>
              <a:t>expenses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monthly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payroll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trends</a:t>
            </a:r>
            <a:r>
              <a:rPr sz="1650" spc="-10" dirty="0"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51BD91B8-ACAB-EA6A-9AC7-FB51AD1B0B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76996" t="-176996" r="-176996" b="-176996"/>
          <a:stretch>
            <a:fillRect/>
          </a:stretch>
        </p:blipFill>
        <p:spPr>
          <a:xfrm>
            <a:off x="7845810" y="-30001"/>
            <a:ext cx="2212589" cy="22125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36"/>
    </mc:Choice>
    <mc:Fallback>
      <p:transition spd="slow" advTm="26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2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FINAL</a:t>
            </a:r>
            <a:r>
              <a:rPr spc="-114" dirty="0">
                <a:solidFill>
                  <a:srgbClr val="BF0000"/>
                </a:solidFill>
              </a:rPr>
              <a:t> </a:t>
            </a:r>
            <a:r>
              <a:rPr dirty="0">
                <a:solidFill>
                  <a:srgbClr val="BF0000"/>
                </a:solidFill>
              </a:rPr>
              <a:t>BUSINESS</a:t>
            </a:r>
            <a:r>
              <a:rPr spc="-110" dirty="0">
                <a:solidFill>
                  <a:srgbClr val="BF0000"/>
                </a:solidFill>
              </a:rPr>
              <a:t> </a:t>
            </a:r>
            <a:r>
              <a:rPr spc="-10" dirty="0">
                <a:solidFill>
                  <a:srgbClr val="BF0000"/>
                </a:solidFill>
              </a:rPr>
              <a:t>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97" y="2415034"/>
            <a:ext cx="8760460" cy="2792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5910" algn="l"/>
              </a:tabLst>
            </a:pP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system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provides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clear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overview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employee</a:t>
            </a:r>
            <a:r>
              <a:rPr sz="1650" b="1" spc="-6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distribution</a:t>
            </a:r>
            <a:r>
              <a:rPr sz="1650" b="1" spc="-6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across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departments</a:t>
            </a:r>
            <a:r>
              <a:rPr sz="1650" b="1" spc="-7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and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job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roles</a:t>
            </a:r>
            <a:r>
              <a:rPr sz="1650" spc="-10" dirty="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Font typeface="Arial"/>
              <a:buChar char="•"/>
              <a:tabLst>
                <a:tab pos="295910" algn="l"/>
              </a:tabLst>
            </a:pPr>
            <a:r>
              <a:rPr sz="1650" dirty="0">
                <a:latin typeface="Times New Roman"/>
                <a:cs typeface="Times New Roman"/>
              </a:rPr>
              <a:t>Salary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analysis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identifies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high-</a:t>
            </a:r>
            <a:r>
              <a:rPr sz="1650" b="1" dirty="0">
                <a:latin typeface="Times New Roman"/>
                <a:cs typeface="Times New Roman"/>
              </a:rPr>
              <a:t>paying</a:t>
            </a:r>
            <a:r>
              <a:rPr sz="1650" b="1" spc="-5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job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roles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and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top-</a:t>
            </a:r>
            <a:r>
              <a:rPr sz="1650" b="1" dirty="0">
                <a:latin typeface="Times New Roman"/>
                <a:cs typeface="Times New Roman"/>
              </a:rPr>
              <a:t>paid</a:t>
            </a:r>
            <a:r>
              <a:rPr sz="1650" b="1" spc="-50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employees</a:t>
            </a:r>
            <a:r>
              <a:rPr sz="1650" spc="-10" dirty="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Font typeface="Arial"/>
              <a:buChar char="•"/>
              <a:tabLst>
                <a:tab pos="295910" algn="l"/>
              </a:tabLst>
            </a:pPr>
            <a:r>
              <a:rPr sz="1650" spc="-10" dirty="0">
                <a:latin typeface="Times New Roman"/>
                <a:cs typeface="Times New Roman"/>
              </a:rPr>
              <a:t>Qualification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data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highlights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employees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positions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requiring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greater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professional</a:t>
            </a:r>
            <a:r>
              <a:rPr sz="1650" b="1" spc="-7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expertise</a:t>
            </a:r>
            <a:r>
              <a:rPr sz="1650" spc="-10" dirty="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Font typeface="Arial"/>
              <a:buChar char="•"/>
              <a:tabLst>
                <a:tab pos="295910" algn="l"/>
              </a:tabLst>
            </a:pPr>
            <a:r>
              <a:rPr sz="1650" dirty="0">
                <a:latin typeface="Times New Roman"/>
                <a:cs typeface="Times New Roman"/>
              </a:rPr>
              <a:t>Leave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analysis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helps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identify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frequent</a:t>
            </a:r>
            <a:r>
              <a:rPr sz="1650" b="1" spc="-5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leave</a:t>
            </a:r>
            <a:r>
              <a:rPr sz="1650" b="1" spc="-6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patterns</a:t>
            </a:r>
            <a:r>
              <a:rPr sz="1650" b="1" spc="-7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and</a:t>
            </a:r>
            <a:r>
              <a:rPr sz="1650" b="1" spc="-6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departmental</a:t>
            </a:r>
            <a:r>
              <a:rPr sz="1650" b="1" spc="-7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leave</a:t>
            </a:r>
            <a:r>
              <a:rPr sz="1650" b="1" spc="-4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trends</a:t>
            </a:r>
            <a:r>
              <a:rPr sz="1650" spc="-10" dirty="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Font typeface="Arial"/>
              <a:buChar char="•"/>
              <a:tabLst>
                <a:tab pos="295910" algn="l"/>
              </a:tabLst>
            </a:pPr>
            <a:r>
              <a:rPr sz="1650" dirty="0">
                <a:latin typeface="Times New Roman"/>
                <a:cs typeface="Times New Roman"/>
              </a:rPr>
              <a:t>Payroll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analysis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tracks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monthly</a:t>
            </a:r>
            <a:r>
              <a:rPr sz="1650" b="1" spc="-4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salary</a:t>
            </a:r>
            <a:r>
              <a:rPr sz="1650" b="1" spc="-4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expenses</a:t>
            </a:r>
            <a:r>
              <a:rPr sz="1650" b="1" spc="-6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and</a:t>
            </a:r>
            <a:r>
              <a:rPr sz="1650" b="1" spc="-5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overall</a:t>
            </a:r>
            <a:r>
              <a:rPr sz="1650" b="1" spc="-4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payroll</a:t>
            </a:r>
            <a:r>
              <a:rPr sz="1650" b="1" spc="-70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processing</a:t>
            </a:r>
            <a:r>
              <a:rPr sz="1650" spc="-10" dirty="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5910" algn="l"/>
              </a:tabLst>
            </a:pPr>
            <a:r>
              <a:rPr sz="1650" dirty="0">
                <a:latin typeface="Times New Roman"/>
                <a:cs typeface="Times New Roman"/>
              </a:rPr>
              <a:t>These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insights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support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better</a:t>
            </a:r>
            <a:r>
              <a:rPr sz="1650" b="1" spc="-4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workforce</a:t>
            </a:r>
            <a:r>
              <a:rPr sz="1650" b="1" spc="-2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planning,</a:t>
            </a:r>
            <a:r>
              <a:rPr sz="1650" b="1" spc="-6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salary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management,</a:t>
            </a:r>
            <a:r>
              <a:rPr sz="1650" b="1" spc="-5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and</a:t>
            </a:r>
            <a:r>
              <a:rPr sz="1650" b="1" spc="-30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decision-making</a:t>
            </a:r>
            <a:r>
              <a:rPr sz="1650" spc="-10" dirty="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1FDE7A87-6C77-F0F2-87BC-DF3C796C0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8892" t="-168892" r="-168892" b="-168892"/>
          <a:stretch>
            <a:fillRect/>
          </a:stretch>
        </p:blipFill>
        <p:spPr>
          <a:xfrm>
            <a:off x="7945120" y="0"/>
            <a:ext cx="2133600" cy="213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269"/>
    </mc:Choice>
    <mc:Fallback>
      <p:transition spd="slow" advTm="732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7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BF0000"/>
                </a:solidFill>
              </a:rPr>
              <a:t>CHALLENGES</a:t>
            </a:r>
            <a:r>
              <a:rPr sz="2300" spc="-60" dirty="0">
                <a:solidFill>
                  <a:srgbClr val="BF0000"/>
                </a:solidFill>
              </a:rPr>
              <a:t> </a:t>
            </a:r>
            <a:r>
              <a:rPr sz="2300" spc="-50" dirty="0">
                <a:solidFill>
                  <a:srgbClr val="BF0000"/>
                </a:solidFill>
              </a:rPr>
              <a:t>:</a:t>
            </a:r>
            <a:endParaRPr sz="2300"/>
          </a:p>
        </p:txBody>
      </p:sp>
      <p:sp>
        <p:nvSpPr>
          <p:cNvPr id="2" name="object 2"/>
          <p:cNvSpPr txBox="1"/>
          <p:nvPr/>
        </p:nvSpPr>
        <p:spPr>
          <a:xfrm>
            <a:off x="464354" y="2629924"/>
            <a:ext cx="6384925" cy="16103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8285" algn="l"/>
              </a:tabLst>
            </a:pPr>
            <a:r>
              <a:rPr sz="1450" dirty="0">
                <a:latin typeface="Times New Roman"/>
                <a:cs typeface="Times New Roman"/>
              </a:rPr>
              <a:t>Managing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relationships</a:t>
            </a:r>
            <a:r>
              <a:rPr sz="1450" spc="1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between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multiple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tables</a:t>
            </a:r>
            <a:r>
              <a:rPr sz="1450" spc="114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while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maintaining</a:t>
            </a:r>
            <a:r>
              <a:rPr sz="1450" spc="10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integrity.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8285" algn="l"/>
              </a:tabLst>
            </a:pPr>
            <a:r>
              <a:rPr sz="1450" dirty="0">
                <a:latin typeface="Times New Roman"/>
                <a:cs typeface="Times New Roman"/>
              </a:rPr>
              <a:t>Handling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employee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salary,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bonus,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leave,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payroll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accurately.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buFont typeface="Arial"/>
              <a:buChar char="•"/>
              <a:tabLst>
                <a:tab pos="248285" algn="l"/>
              </a:tabLst>
            </a:pPr>
            <a:r>
              <a:rPr sz="1450" dirty="0">
                <a:latin typeface="Times New Roman"/>
                <a:cs typeface="Times New Roman"/>
              </a:rPr>
              <a:t>Writing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complex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SQL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queries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generate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meaningful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business</a:t>
            </a:r>
            <a:r>
              <a:rPr sz="1450" spc="10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insights.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buFont typeface="Arial"/>
              <a:buChar char="•"/>
              <a:tabLst>
                <a:tab pos="248285" algn="l"/>
              </a:tabLst>
            </a:pPr>
            <a:r>
              <a:rPr sz="1450" dirty="0">
                <a:latin typeface="Times New Roman"/>
                <a:cs typeface="Times New Roman"/>
              </a:rPr>
              <a:t>Avoiding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duplicate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records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ensuring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accurate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calculations</a:t>
            </a:r>
            <a:r>
              <a:rPr sz="1450" spc="1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reports.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55713BD9-23FF-C545-C5CE-73EF597D62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76710" t="-176710" r="-176710" b="-176710"/>
          <a:stretch>
            <a:fillRect/>
          </a:stretch>
        </p:blipFill>
        <p:spPr>
          <a:xfrm>
            <a:off x="7848600" y="0"/>
            <a:ext cx="2209800" cy="2209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4"/>
    </mc:Choice>
    <mc:Fallback>
      <p:transition spd="slow" advTm="7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2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CONCLUSION: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5910" algn="l"/>
              </a:tabLst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Employee</a:t>
            </a:r>
            <a:r>
              <a:rPr spc="-45" dirty="0"/>
              <a:t> </a:t>
            </a:r>
            <a:r>
              <a:rPr dirty="0"/>
              <a:t>Payroll</a:t>
            </a:r>
            <a:r>
              <a:rPr spc="-80" dirty="0"/>
              <a:t> </a:t>
            </a:r>
            <a:r>
              <a:rPr dirty="0"/>
              <a:t>Management</a:t>
            </a:r>
            <a:r>
              <a:rPr spc="-80" dirty="0"/>
              <a:t> </a:t>
            </a:r>
            <a:r>
              <a:rPr dirty="0"/>
              <a:t>System</a:t>
            </a:r>
            <a:r>
              <a:rPr spc="-65" dirty="0"/>
              <a:t> </a:t>
            </a:r>
            <a:r>
              <a:rPr dirty="0"/>
              <a:t>successfully</a:t>
            </a:r>
            <a:r>
              <a:rPr spc="-95" dirty="0"/>
              <a:t> </a:t>
            </a:r>
            <a:r>
              <a:rPr dirty="0"/>
              <a:t>organizes</a:t>
            </a:r>
            <a:r>
              <a:rPr spc="-80" dirty="0"/>
              <a:t> </a:t>
            </a:r>
            <a:r>
              <a:rPr dirty="0"/>
              <a:t>employee,</a:t>
            </a:r>
            <a:r>
              <a:rPr spc="-55" dirty="0"/>
              <a:t> </a:t>
            </a:r>
            <a:r>
              <a:rPr dirty="0"/>
              <a:t>department,</a:t>
            </a:r>
            <a:r>
              <a:rPr spc="-65" dirty="0"/>
              <a:t> </a:t>
            </a:r>
            <a:r>
              <a:rPr spc="-10" dirty="0"/>
              <a:t>qualification, </a:t>
            </a:r>
            <a:r>
              <a:rPr dirty="0"/>
              <a:t>salary,</a:t>
            </a:r>
            <a:r>
              <a:rPr spc="-45" dirty="0"/>
              <a:t> </a:t>
            </a:r>
            <a:r>
              <a:rPr dirty="0"/>
              <a:t>leave,</a:t>
            </a:r>
            <a:r>
              <a:rPr spc="-4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payroll</a:t>
            </a:r>
            <a:r>
              <a:rPr spc="-40" dirty="0"/>
              <a:t> </a:t>
            </a:r>
            <a:r>
              <a:rPr dirty="0"/>
              <a:t>information</a:t>
            </a:r>
            <a:r>
              <a:rPr spc="-4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structured</a:t>
            </a:r>
            <a:r>
              <a:rPr spc="-70" dirty="0"/>
              <a:t> </a:t>
            </a:r>
            <a:r>
              <a:rPr spc="-10" dirty="0"/>
              <a:t>database.</a:t>
            </a: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pc="-10" dirty="0"/>
          </a:p>
          <a:p>
            <a:pPr marL="295910" marR="558165" indent="-28384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5910" algn="l"/>
              </a:tabLst>
            </a:pPr>
            <a:r>
              <a:rPr dirty="0"/>
              <a:t>SQL</a:t>
            </a:r>
            <a:r>
              <a:rPr spc="-50" dirty="0"/>
              <a:t> </a:t>
            </a:r>
            <a:r>
              <a:rPr dirty="0"/>
              <a:t>queries</a:t>
            </a:r>
            <a:r>
              <a:rPr spc="-80" dirty="0"/>
              <a:t> </a:t>
            </a:r>
            <a:r>
              <a:rPr dirty="0"/>
              <a:t>help</a:t>
            </a:r>
            <a:r>
              <a:rPr spc="-45" dirty="0"/>
              <a:t> </a:t>
            </a:r>
            <a:r>
              <a:rPr dirty="0"/>
              <a:t>analyze</a:t>
            </a:r>
            <a:r>
              <a:rPr spc="-25" dirty="0"/>
              <a:t> </a:t>
            </a:r>
            <a:r>
              <a:rPr dirty="0"/>
              <a:t>employee</a:t>
            </a:r>
            <a:r>
              <a:rPr spc="-40" dirty="0"/>
              <a:t> </a:t>
            </a:r>
            <a:r>
              <a:rPr dirty="0"/>
              <a:t>performance,</a:t>
            </a:r>
            <a:r>
              <a:rPr spc="-45" dirty="0"/>
              <a:t> </a:t>
            </a:r>
            <a:r>
              <a:rPr dirty="0"/>
              <a:t>salary</a:t>
            </a:r>
            <a:r>
              <a:rPr spc="-65" dirty="0"/>
              <a:t> </a:t>
            </a:r>
            <a:r>
              <a:rPr dirty="0"/>
              <a:t>distribution,</a:t>
            </a:r>
            <a:r>
              <a:rPr spc="-95" dirty="0"/>
              <a:t> </a:t>
            </a:r>
            <a:r>
              <a:rPr dirty="0"/>
              <a:t>leave</a:t>
            </a:r>
            <a:r>
              <a:rPr spc="-50" dirty="0"/>
              <a:t> </a:t>
            </a:r>
            <a:r>
              <a:rPr dirty="0"/>
              <a:t>patterns,</a:t>
            </a:r>
            <a:r>
              <a:rPr spc="-80" dirty="0"/>
              <a:t> </a:t>
            </a:r>
            <a:r>
              <a:rPr dirty="0"/>
              <a:t>bonuses,</a:t>
            </a:r>
            <a:r>
              <a:rPr spc="-75" dirty="0"/>
              <a:t> </a:t>
            </a:r>
            <a:r>
              <a:rPr spc="-25" dirty="0"/>
              <a:t>and </a:t>
            </a:r>
            <a:r>
              <a:rPr dirty="0"/>
              <a:t>monthly</a:t>
            </a:r>
            <a:r>
              <a:rPr spc="-35" dirty="0"/>
              <a:t> </a:t>
            </a:r>
            <a:r>
              <a:rPr dirty="0"/>
              <a:t>payroll,</a:t>
            </a:r>
            <a:r>
              <a:rPr spc="-30" dirty="0"/>
              <a:t> </a:t>
            </a:r>
            <a:r>
              <a:rPr dirty="0"/>
              <a:t>providing</a:t>
            </a:r>
            <a:r>
              <a:rPr spc="-65" dirty="0"/>
              <a:t> </a:t>
            </a:r>
            <a:r>
              <a:rPr dirty="0"/>
              <a:t>useful</a:t>
            </a:r>
            <a:r>
              <a:rPr spc="-45" dirty="0"/>
              <a:t> </a:t>
            </a:r>
            <a:r>
              <a:rPr dirty="0"/>
              <a:t>business</a:t>
            </a:r>
            <a:r>
              <a:rPr spc="-65" dirty="0"/>
              <a:t> </a:t>
            </a:r>
            <a:r>
              <a:rPr spc="-10" dirty="0"/>
              <a:t>insights.</a:t>
            </a: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pc="-10" dirty="0"/>
          </a:p>
          <a:p>
            <a:pPr marL="295910" marR="415925" indent="-283845">
              <a:lnSpc>
                <a:spcPct val="100000"/>
              </a:lnSpc>
              <a:buFont typeface="Arial"/>
              <a:buChar char="•"/>
              <a:tabLst>
                <a:tab pos="295910" algn="l"/>
              </a:tabLst>
            </a:pPr>
            <a:r>
              <a:rPr dirty="0"/>
              <a:t>Overall,</a:t>
            </a:r>
            <a:r>
              <a:rPr spc="-4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project</a:t>
            </a:r>
            <a:r>
              <a:rPr spc="-55" dirty="0"/>
              <a:t> </a:t>
            </a:r>
            <a:r>
              <a:rPr spc="-10" dirty="0"/>
              <a:t>demonstrates</a:t>
            </a:r>
            <a:r>
              <a:rPr spc="-55" dirty="0"/>
              <a:t> </a:t>
            </a:r>
            <a:r>
              <a:rPr dirty="0"/>
              <a:t>how</a:t>
            </a:r>
            <a:r>
              <a:rPr spc="-30" dirty="0"/>
              <a:t> </a:t>
            </a:r>
            <a:r>
              <a:rPr dirty="0"/>
              <a:t>database</a:t>
            </a:r>
            <a:r>
              <a:rPr spc="-50" dirty="0"/>
              <a:t> </a:t>
            </a:r>
            <a:r>
              <a:rPr dirty="0"/>
              <a:t>management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SQL</a:t>
            </a:r>
            <a:r>
              <a:rPr spc="-45" dirty="0"/>
              <a:t> </a:t>
            </a:r>
            <a:r>
              <a:rPr dirty="0"/>
              <a:t>can</a:t>
            </a:r>
            <a:r>
              <a:rPr spc="-25" dirty="0"/>
              <a:t> </a:t>
            </a:r>
            <a:r>
              <a:rPr dirty="0"/>
              <a:t>improve</a:t>
            </a:r>
            <a:r>
              <a:rPr spc="-40" dirty="0"/>
              <a:t> </a:t>
            </a: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accuracy, </a:t>
            </a:r>
            <a:r>
              <a:rPr b="1" dirty="0">
                <a:latin typeface="Times New Roman"/>
                <a:cs typeface="Times New Roman"/>
              </a:rPr>
              <a:t>reporting,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workforce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planning,</a:t>
            </a:r>
            <a:r>
              <a:rPr b="1" spc="-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effective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decision-making</a:t>
            </a:r>
            <a:r>
              <a:rPr spc="-10" dirty="0"/>
              <a:t>.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CBA5B895-DAA7-4778-0998-5B7757C169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8001000" y="0"/>
            <a:ext cx="20574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5"/>
    </mc:Choice>
    <mc:Fallback>
      <p:transition spd="slow" advTm="5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90473" y="3527705"/>
            <a:ext cx="1955164" cy="113093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5"/>
              </a:spcBef>
            </a:pPr>
            <a:r>
              <a:rPr sz="3600" b="0" spc="290" dirty="0">
                <a:solidFill>
                  <a:srgbClr val="BF0000"/>
                </a:solidFill>
                <a:latin typeface="Book Antiqua"/>
                <a:cs typeface="Book Antiqua"/>
              </a:rPr>
              <a:t>THANK </a:t>
            </a:r>
            <a:r>
              <a:rPr sz="3600" b="0" spc="360" dirty="0">
                <a:solidFill>
                  <a:srgbClr val="BF0000"/>
                </a:solidFill>
                <a:latin typeface="Book Antiqua"/>
                <a:cs typeface="Book Antiqua"/>
              </a:rPr>
              <a:t>YOU</a:t>
            </a:r>
            <a:endParaRPr sz="3600">
              <a:latin typeface="Book Antiqua"/>
              <a:cs typeface="Book Antiqua"/>
            </a:endParaRPr>
          </a:p>
        </p:txBody>
      </p: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9428" y="2580132"/>
            <a:ext cx="3690020" cy="2348483"/>
          </a:xfrm>
          <a:prstGeom prst="rect">
            <a:avLst/>
          </a:prstGeom>
        </p:spPr>
      </p:pic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29720717-8B0A-4CC0-EB41-94EC131C24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76710" t="-176710" r="-176710" b="-176710"/>
          <a:stretch>
            <a:fillRect/>
          </a:stretch>
        </p:blipFill>
        <p:spPr>
          <a:xfrm>
            <a:off x="7848600" y="0"/>
            <a:ext cx="2209800" cy="2209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87"/>
    </mc:Choice>
    <mc:Fallback>
      <p:transition spd="slow" advTm="26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Words>762</Words>
  <Application>Microsoft Office PowerPoint</Application>
  <PresentationFormat>Custom</PresentationFormat>
  <Paragraphs>121</Paragraphs>
  <Slides>19</Slides>
  <Notes>1</Notes>
  <HiddenSlides>0</HiddenSlides>
  <MMClips>19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Book Antiqua</vt:lpstr>
      <vt:lpstr>Times New Roman</vt:lpstr>
      <vt:lpstr>Office Theme</vt:lpstr>
      <vt:lpstr>Employee Management System</vt:lpstr>
      <vt:lpstr>About me:</vt:lpstr>
      <vt:lpstr>OBJECTIVE OF THE PROJECT :</vt:lpstr>
      <vt:lpstr>ER Diagram:</vt:lpstr>
      <vt:lpstr>ER DIAGRAM HIGHLIGHTS</vt:lpstr>
      <vt:lpstr>1. Employee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BUSINESS INSIGHTS</vt:lpstr>
      <vt:lpstr>CHALLENGES :</vt:lpstr>
      <vt:lpstr>CONCLUSION: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project sql ppt</dc:title>
  <dc:creator>PAVAN TEJA</dc:creator>
  <cp:lastModifiedBy>Pavan Teja</cp:lastModifiedBy>
  <cp:revision>3</cp:revision>
  <dcterms:created xsi:type="dcterms:W3CDTF">2026-10-27T15:48:54Z</dcterms:created>
  <dcterms:modified xsi:type="dcterms:W3CDTF">2026-10-28T10:22:54Z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2026-09-17T00:00:00Z</vt:filetime>
  </property>
  <property fmtid="{D5CDD505-2E9C-101B-9397-08002B2CF9AE}" pid="4" name="LastSaved">
    <vt:filetime>2026-10-27T00:00:00Z</vt:filetime>
  </property>
  <property fmtid="{D5CDD505-2E9C-101B-9397-08002B2CF9AE}" pid="5" name="Producer">
    <vt:lpwstr>Microsoft: Print To PDF</vt:lpwstr>
  </property>
</Properties>
</file>